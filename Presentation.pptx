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70" r:id="rId5"/>
    <p:sldId id="274" r:id="rId6"/>
    <p:sldId id="268" r:id="rId7"/>
  </p:sldIdLst>
  <p:sldSz cx="18288000" cy="10287000"/>
  <p:notesSz cx="6858000" cy="9144000"/>
  <p:embeddedFontLst>
    <p:embeddedFont>
      <p:font typeface="Cascadia Code" panose="020B0609020000020004" pitchFamily="49" charset="0"/>
      <p:regular r:id="rId9"/>
      <p:bold r:id="rId10"/>
      <p:italic r:id="rId11"/>
      <p:boldItalic r:id="rId12"/>
    </p:embeddedFont>
    <p:embeddedFont>
      <p:font typeface="Open Sans Extra Bold" panose="020B0604020202020204" charset="0"/>
      <p:regular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D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907" autoAdjust="0"/>
  </p:normalViewPr>
  <p:slideViewPr>
    <p:cSldViewPr>
      <p:cViewPr varScale="1">
        <p:scale>
          <a:sx n="58" d="100"/>
          <a:sy n="58" d="100"/>
        </p:scale>
        <p:origin x="93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BFADD-5D22-4452-A63D-B536B0B4197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AA1D0-7C80-4F5C-9B3A-0E094DAF412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49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Between 2020 and 2022 in just two years 90% of worldwide was produced. </a:t>
            </a:r>
            <a:r>
              <a:rPr lang="en-US" b="0" i="0" dirty="0">
                <a:solidFill>
                  <a:srgbClr val="E6E7E7"/>
                </a:solidFill>
                <a:effectLst/>
                <a:latin typeface="Overused Grotesk"/>
              </a:rPr>
              <a:t>In 2023, the world created around 120 zettabytes (ZB). </a:t>
            </a:r>
          </a:p>
          <a:p>
            <a:r>
              <a:rPr lang="en-US" sz="1200" b="1" i="0" dirty="0">
                <a:solidFill>
                  <a:srgbClr val="000000"/>
                </a:solidFill>
                <a:effectLst/>
                <a:latin typeface="BalooDa2"/>
              </a:rPr>
              <a:t>Every internet user created 1.7 megabytes per second in 2020. An internet user generates about 1.7 megabytes (MB) of data per second80–90% of the data that internet users generate daily is unstructured.</a:t>
            </a:r>
          </a:p>
          <a:p>
            <a:pPr algn="l">
              <a:spcBef>
                <a:spcPct val="0"/>
              </a:spcBef>
            </a:pPr>
            <a:r>
              <a:rPr lang="en-US" sz="1200" b="1" i="0" dirty="0">
                <a:solidFill>
                  <a:srgbClr val="000000"/>
                </a:solidFill>
                <a:effectLst/>
                <a:latin typeface="BalooDa2"/>
              </a:rPr>
              <a:t>More than 80% of IT decision-makers agree their analytics projects are delayed within their company due to data not being available in the required format.</a:t>
            </a:r>
          </a:p>
          <a:p>
            <a:pPr algn="l">
              <a:spcBef>
                <a:spcPct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By 2025, more than 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150 zettabytes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of big data will 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need analysis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l">
              <a:spcBef>
                <a:spcPct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96% of executives planned to use AI simulation for real-time analysis of their business performance in 2022.</a:t>
            </a:r>
          </a:p>
          <a:p>
            <a:endParaRPr lang="en-US" sz="1200" b="1" i="0" dirty="0">
              <a:solidFill>
                <a:srgbClr val="000000"/>
              </a:solidFill>
              <a:effectLst/>
              <a:latin typeface="BalooDa2"/>
            </a:endParaRPr>
          </a:p>
          <a:p>
            <a:pPr algn="ctr">
              <a:spcBef>
                <a:spcPct val="0"/>
              </a:spcBef>
            </a:pPr>
            <a:r>
              <a:rPr lang="en-US" sz="1200" b="1" i="0" dirty="0">
                <a:solidFill>
                  <a:srgbClr val="000000"/>
                </a:solidFill>
                <a:effectLst/>
                <a:latin typeface="BalooDa2"/>
              </a:rPr>
              <a:t>8.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AA1D0-7C80-4F5C-9B3A-0E094DAF412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96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014034" y="2039980"/>
            <a:ext cx="935943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fr-FR" sz="4800" noProof="0" dirty="0">
                <a:latin typeface="Open Sans Extra Bold" panose="020B0604020202020204" charset="0"/>
                <a:ea typeface="Open Sans Extra Bold" panose="020B0604020202020204" charset="0"/>
                <a:cs typeface="Open Sans Extra Bold" panose="020B0604020202020204" charset="0"/>
              </a:rPr>
              <a:t>Optimiser le réseau de services publics au Togo</a:t>
            </a:r>
            <a:endParaRPr lang="fr-FR" sz="4000" noProof="0" dirty="0">
              <a:solidFill>
                <a:srgbClr val="051D40"/>
              </a:solidFill>
              <a:latin typeface="Open Sans Extra Bold" panose="020B0604020202020204" charset="0"/>
              <a:ea typeface="Open Sans Extra Bold" panose="020B0604020202020204" charset="0"/>
              <a:cs typeface="Open Sans Extra Bold" panose="020B0604020202020204" charset="0"/>
              <a:sym typeface="Open Sans Extra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385123" y="-878718"/>
            <a:ext cx="1286950" cy="1286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181173" y="8811245"/>
            <a:ext cx="3735531" cy="37355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9677400" y="7816887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Box 18"/>
          <p:cNvSpPr txBox="1"/>
          <p:nvPr/>
        </p:nvSpPr>
        <p:spPr>
          <a:xfrm>
            <a:off x="5970880" y="9121046"/>
            <a:ext cx="7366063" cy="97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fr-FR" sz="4000" b="1" spc="-55" noProof="0" dirty="0">
                <a:solidFill>
                  <a:srgbClr val="00206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KATCHOOU LONZOZOU</a:t>
            </a:r>
          </a:p>
          <a:p>
            <a:pPr algn="l">
              <a:lnSpc>
                <a:spcPts val="3855"/>
              </a:lnSpc>
              <a:spcBef>
                <a:spcPct val="0"/>
              </a:spcBef>
            </a:pPr>
            <a:endParaRPr lang="fr-FR" sz="2753" spc="-55" noProof="0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2B4A10C2-C87D-C265-BAAD-0685555CA6BD}"/>
              </a:ext>
            </a:extLst>
          </p:cNvPr>
          <p:cNvSpPr txBox="1"/>
          <p:nvPr/>
        </p:nvSpPr>
        <p:spPr>
          <a:xfrm>
            <a:off x="2590800" y="5180027"/>
            <a:ext cx="9252309" cy="615553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sz="4000" noProof="0" dirty="0">
                <a:solidFill>
                  <a:schemeClr val="bg1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DATA Challenge 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2A1DEBCC-92E9-4709-07E7-D55A5AF9B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noProof="0" dirty="0"/>
          </a:p>
        </p:txBody>
      </p:sp>
      <p:sp>
        <p:nvSpPr>
          <p:cNvPr id="38" name="Freeform 36">
            <a:extLst>
              <a:ext uri="{FF2B5EF4-FFF2-40B4-BE49-F238E27FC236}">
                <a16:creationId xmlns:a16="http://schemas.microsoft.com/office/drawing/2014/main" id="{AE60F2E3-7450-A62B-5FC6-8817D0A92CB3}"/>
              </a:ext>
            </a:extLst>
          </p:cNvPr>
          <p:cNvSpPr/>
          <p:nvPr/>
        </p:nvSpPr>
        <p:spPr>
          <a:xfrm>
            <a:off x="1601233" y="8275420"/>
            <a:ext cx="2988937" cy="570615"/>
          </a:xfrm>
          <a:custGeom>
            <a:avLst/>
            <a:gdLst/>
            <a:ahLst/>
            <a:cxnLst/>
            <a:rect l="l" t="t" r="r" b="b"/>
            <a:pathLst>
              <a:path w="2988937" h="570615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pic>
        <p:nvPicPr>
          <p:cNvPr id="1028" name="Picture 4" descr="Carte du Togo - Plusieurs cartes du pays en Afrique">
            <a:extLst>
              <a:ext uri="{FF2B5EF4-FFF2-40B4-BE49-F238E27FC236}">
                <a16:creationId xmlns:a16="http://schemas.microsoft.com/office/drawing/2014/main" id="{6A59AB0A-28F6-4B8A-3F15-3B92E1877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432" y="0"/>
            <a:ext cx="4619443" cy="1025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49827" y="-315405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63160" y="1641132"/>
            <a:ext cx="6760246" cy="1244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fr-FR" sz="7320" noProof="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CONTEXTE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1262088" y="3415161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2354270" y="3397759"/>
            <a:ext cx="7489214" cy="1000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fr-FR" sz="2853" spc="-57" noProof="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Augmentations des demandes de service publics &amp; augmentation de la population</a:t>
            </a:r>
          </a:p>
        </p:txBody>
      </p:sp>
      <p:sp>
        <p:nvSpPr>
          <p:cNvPr id="16" name="Freeform 16"/>
          <p:cNvSpPr/>
          <p:nvPr/>
        </p:nvSpPr>
        <p:spPr>
          <a:xfrm rot="5400000">
            <a:off x="1262089" y="4782999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Box 17"/>
          <p:cNvSpPr txBox="1"/>
          <p:nvPr/>
        </p:nvSpPr>
        <p:spPr>
          <a:xfrm>
            <a:off x="2412963" y="4796064"/>
            <a:ext cx="7878821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fr-FR" sz="2853" spc="-57" noProof="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Inégale couverture territoriale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1262090" y="5613458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Box 20"/>
          <p:cNvSpPr txBox="1"/>
          <p:nvPr/>
        </p:nvSpPr>
        <p:spPr>
          <a:xfrm>
            <a:off x="2422661" y="7036280"/>
            <a:ext cx="6760246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fr-FR" sz="2853" spc="-57" noProof="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Améliorer la qualité</a:t>
            </a:r>
          </a:p>
        </p:txBody>
      </p:sp>
      <p:sp>
        <p:nvSpPr>
          <p:cNvPr id="22" name="Freeform 22"/>
          <p:cNvSpPr/>
          <p:nvPr/>
        </p:nvSpPr>
        <p:spPr>
          <a:xfrm rot="5400000">
            <a:off x="1262089" y="6311931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Box 23"/>
          <p:cNvSpPr txBox="1"/>
          <p:nvPr/>
        </p:nvSpPr>
        <p:spPr>
          <a:xfrm>
            <a:off x="2422661" y="5596535"/>
            <a:ext cx="7420823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fr-FR" sz="2853" spc="-57" noProof="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Délai de traitement anormalement long</a:t>
            </a:r>
          </a:p>
        </p:txBody>
      </p:sp>
      <p:sp>
        <p:nvSpPr>
          <p:cNvPr id="25" name="Freeform 25"/>
          <p:cNvSpPr/>
          <p:nvPr/>
        </p:nvSpPr>
        <p:spPr>
          <a:xfrm rot="5400000">
            <a:off x="1233478" y="7010404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Box 26"/>
          <p:cNvSpPr txBox="1"/>
          <p:nvPr/>
        </p:nvSpPr>
        <p:spPr>
          <a:xfrm>
            <a:off x="2434453" y="6341496"/>
            <a:ext cx="9071747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fr-FR" sz="2853" spc="-57" noProof="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Améliorer l’efficacité du service public </a:t>
            </a:r>
          </a:p>
        </p:txBody>
      </p:sp>
      <p:sp>
        <p:nvSpPr>
          <p:cNvPr id="28" name="Freeform 28"/>
          <p:cNvSpPr/>
          <p:nvPr/>
        </p:nvSpPr>
        <p:spPr>
          <a:xfrm rot="5400000">
            <a:off x="1204867" y="7841797"/>
            <a:ext cx="510937" cy="453341"/>
          </a:xfrm>
          <a:custGeom>
            <a:avLst/>
            <a:gdLst/>
            <a:ahLst/>
            <a:cxnLst/>
            <a:rect l="l" t="t" r="r" b="b"/>
            <a:pathLst>
              <a:path w="510937" h="453341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Box 29"/>
          <p:cNvSpPr txBox="1"/>
          <p:nvPr/>
        </p:nvSpPr>
        <p:spPr>
          <a:xfrm>
            <a:off x="2463548" y="7836751"/>
            <a:ext cx="6985252" cy="487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fr-FR" sz="2853" spc="-57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Augmenter</a:t>
            </a:r>
            <a:r>
              <a:rPr lang="fr-FR" sz="2853" spc="-57" noProof="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la couverture géographique</a:t>
            </a:r>
          </a:p>
        </p:txBody>
      </p:sp>
      <p:pic>
        <p:nvPicPr>
          <p:cNvPr id="12" name="Picture 4" descr="Carte du Togo - Plusieurs cartes du pays en Afrique">
            <a:extLst>
              <a:ext uri="{FF2B5EF4-FFF2-40B4-BE49-F238E27FC236}">
                <a16:creationId xmlns:a16="http://schemas.microsoft.com/office/drawing/2014/main" id="{E1E4E015-C898-CFA2-2D06-C2EB2309C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008" y="0"/>
            <a:ext cx="4619443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88189" y="-1358614"/>
            <a:ext cx="15178802" cy="151788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042805" y="98991"/>
            <a:ext cx="11387033" cy="1184972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0996" y="4259047"/>
            <a:ext cx="6033363" cy="1636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53"/>
              </a:lnSpc>
              <a:spcBef>
                <a:spcPct val="0"/>
              </a:spcBef>
            </a:pPr>
            <a:r>
              <a:rPr lang="fr-FR" sz="4680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DEMARCHE ANALYTIQUE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70409" y="1589053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7298543" y="58008"/>
            <a:ext cx="1007505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Exploration de la structure des données (dimension et type)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75815" y="1775857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fr-FR" sz="4784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02</a:t>
            </a:r>
          </a:p>
        </p:txBody>
      </p:sp>
      <p:sp>
        <p:nvSpPr>
          <p:cNvPr id="13" name="Freeform 13"/>
          <p:cNvSpPr/>
          <p:nvPr/>
        </p:nvSpPr>
        <p:spPr>
          <a:xfrm>
            <a:off x="5915149" y="333698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Box 15"/>
          <p:cNvSpPr txBox="1"/>
          <p:nvPr/>
        </p:nvSpPr>
        <p:spPr>
          <a:xfrm>
            <a:off x="9453064" y="3020800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fr-FR" sz="4784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03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58993" y="4904195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Box 18"/>
          <p:cNvSpPr txBox="1"/>
          <p:nvPr/>
        </p:nvSpPr>
        <p:spPr>
          <a:xfrm>
            <a:off x="6587106" y="5249988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fr-FR" sz="4784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04</a:t>
            </a:r>
          </a:p>
        </p:txBody>
      </p:sp>
      <p:sp>
        <p:nvSpPr>
          <p:cNvPr id="19" name="Freeform 19"/>
          <p:cNvSpPr/>
          <p:nvPr/>
        </p:nvSpPr>
        <p:spPr>
          <a:xfrm>
            <a:off x="7103901" y="6945652"/>
            <a:ext cx="1424256" cy="1337701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Box 21"/>
          <p:cNvSpPr txBox="1"/>
          <p:nvPr/>
        </p:nvSpPr>
        <p:spPr>
          <a:xfrm>
            <a:off x="7221620" y="7210957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fr-FR" sz="4784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05</a:t>
            </a:r>
          </a:p>
        </p:txBody>
      </p:sp>
      <p:sp>
        <p:nvSpPr>
          <p:cNvPr id="34" name="Freeform 10">
            <a:extLst>
              <a:ext uri="{FF2B5EF4-FFF2-40B4-BE49-F238E27FC236}">
                <a16:creationId xmlns:a16="http://schemas.microsoft.com/office/drawing/2014/main" id="{A1D597CA-346A-C71D-774E-50734A317C23}"/>
              </a:ext>
            </a:extLst>
          </p:cNvPr>
          <p:cNvSpPr/>
          <p:nvPr/>
        </p:nvSpPr>
        <p:spPr>
          <a:xfrm>
            <a:off x="8359728" y="8764136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076B6CF3-1120-92F6-C11F-6E6DB81877E9}"/>
              </a:ext>
            </a:extLst>
          </p:cNvPr>
          <p:cNvSpPr txBox="1"/>
          <p:nvPr/>
        </p:nvSpPr>
        <p:spPr>
          <a:xfrm>
            <a:off x="8504786" y="9075448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fr-FR" sz="4784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06</a:t>
            </a:r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CABA9C04-47F7-A58D-E5D0-26966D38B579}"/>
              </a:ext>
            </a:extLst>
          </p:cNvPr>
          <p:cNvSpPr/>
          <p:nvPr/>
        </p:nvSpPr>
        <p:spPr>
          <a:xfrm>
            <a:off x="5182678" y="70830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42BDD541-F1BF-2085-654B-2BE72E83C4AD}"/>
              </a:ext>
            </a:extLst>
          </p:cNvPr>
          <p:cNvSpPr txBox="1"/>
          <p:nvPr/>
        </p:nvSpPr>
        <p:spPr>
          <a:xfrm>
            <a:off x="5506231" y="382142"/>
            <a:ext cx="801156" cy="80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fr-FR" sz="4784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01</a:t>
            </a:r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3B8096A6-AD99-DD2B-30DC-2A8501C53B4E}"/>
              </a:ext>
            </a:extLst>
          </p:cNvPr>
          <p:cNvSpPr txBox="1"/>
          <p:nvPr/>
        </p:nvSpPr>
        <p:spPr>
          <a:xfrm>
            <a:off x="8011362" y="4424426"/>
            <a:ext cx="10418459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Analyse des distribution</a:t>
            </a:r>
            <a:r>
              <a:rPr lang="fr-FR" sz="4000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s (univariées et bivariées) des variables d’intérêt : le volume de demande, la capacité, et le délai</a:t>
            </a:r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49767D05-7E91-373D-653D-ECD205018947}"/>
              </a:ext>
            </a:extLst>
          </p:cNvPr>
          <p:cNvSpPr txBox="1"/>
          <p:nvPr/>
        </p:nvSpPr>
        <p:spPr>
          <a:xfrm>
            <a:off x="8661798" y="7032132"/>
            <a:ext cx="965441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Suppression des lignes n’ayant pas de type de document </a:t>
            </a:r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057C922A-6E0C-AA9F-BC8B-742B2330BE08}"/>
              </a:ext>
            </a:extLst>
          </p:cNvPr>
          <p:cNvSpPr txBox="1"/>
          <p:nvPr/>
        </p:nvSpPr>
        <p:spPr>
          <a:xfrm>
            <a:off x="7507666" y="1576568"/>
            <a:ext cx="1017073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Identification des valeurs manquantes</a:t>
            </a: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802A363F-ABA5-5DEC-5AEE-5A87DBEDF8BC}"/>
              </a:ext>
            </a:extLst>
          </p:cNvPr>
          <p:cNvSpPr txBox="1"/>
          <p:nvPr/>
        </p:nvSpPr>
        <p:spPr>
          <a:xfrm>
            <a:off x="10210800" y="8917753"/>
            <a:ext cx="576834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Définition de six KPIs</a:t>
            </a: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896A9BE6-64EE-1359-C533-4E7A004C553C}"/>
              </a:ext>
            </a:extLst>
          </p:cNvPr>
          <p:cNvSpPr txBox="1"/>
          <p:nvPr/>
        </p:nvSpPr>
        <p:spPr>
          <a:xfrm>
            <a:off x="7640940" y="2836774"/>
            <a:ext cx="1041845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Identification des valeurs aberrantes par deux approches: IQR &amp; </a:t>
            </a:r>
            <a:r>
              <a:rPr lang="fr-FR" sz="4000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Z </a:t>
            </a:r>
            <a:r>
              <a:rPr lang="fr-FR" sz="4000" u="none" strike="noStrike" spc="-35" noProof="0" dirty="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Score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9DAB62AA-85AB-00B1-332F-0DEF51A1002C}"/>
              </a:ext>
            </a:extLst>
          </p:cNvPr>
          <p:cNvSpPr txBox="1"/>
          <p:nvPr/>
        </p:nvSpPr>
        <p:spPr>
          <a:xfrm>
            <a:off x="6094249" y="3619770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fr-FR" sz="4784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4200" y="-3390900"/>
            <a:ext cx="4693046" cy="46930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639800" y="6041862"/>
            <a:ext cx="851549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fr-FR" sz="2400" u="none" strike="noStrike" spc="-40" noProof="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29000" y="-17318"/>
            <a:ext cx="8078137" cy="738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fr-FR" sz="400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QUELQUES </a:t>
            </a:r>
            <a:r>
              <a:rPr lang="fr-FR" sz="4000" noProof="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RESULTATS</a:t>
            </a:r>
          </a:p>
        </p:txBody>
      </p:sp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1123EB1F-2061-E0FB-B7D3-168A94EA5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53" y="862173"/>
            <a:ext cx="18288000" cy="5171755"/>
          </a:xfrm>
          <a:prstGeom prst="rect">
            <a:avLst/>
          </a:prstGeom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3A5BDD99-93F9-C4FC-62AB-7FAB273BC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496971"/>
              </p:ext>
            </p:extLst>
          </p:nvPr>
        </p:nvGraphicFramePr>
        <p:xfrm>
          <a:off x="0" y="6735181"/>
          <a:ext cx="11658601" cy="3559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620">
                  <a:extLst>
                    <a:ext uri="{9D8B030D-6E8A-4147-A177-3AD203B41FA5}">
                      <a16:colId xmlns:a16="http://schemas.microsoft.com/office/drawing/2014/main" val="2135412738"/>
                    </a:ext>
                  </a:extLst>
                </a:gridCol>
                <a:gridCol w="2039620">
                  <a:extLst>
                    <a:ext uri="{9D8B030D-6E8A-4147-A177-3AD203B41FA5}">
                      <a16:colId xmlns:a16="http://schemas.microsoft.com/office/drawing/2014/main" val="3052242854"/>
                    </a:ext>
                  </a:extLst>
                </a:gridCol>
                <a:gridCol w="2039620">
                  <a:extLst>
                    <a:ext uri="{9D8B030D-6E8A-4147-A177-3AD203B41FA5}">
                      <a16:colId xmlns:a16="http://schemas.microsoft.com/office/drawing/2014/main" val="2299059051"/>
                    </a:ext>
                  </a:extLst>
                </a:gridCol>
                <a:gridCol w="2039620">
                  <a:extLst>
                    <a:ext uri="{9D8B030D-6E8A-4147-A177-3AD203B41FA5}">
                      <a16:colId xmlns:a16="http://schemas.microsoft.com/office/drawing/2014/main" val="4202540545"/>
                    </a:ext>
                  </a:extLst>
                </a:gridCol>
                <a:gridCol w="2039620">
                  <a:extLst>
                    <a:ext uri="{9D8B030D-6E8A-4147-A177-3AD203B41FA5}">
                      <a16:colId xmlns:a16="http://schemas.microsoft.com/office/drawing/2014/main" val="784680315"/>
                    </a:ext>
                  </a:extLst>
                </a:gridCol>
                <a:gridCol w="1460501">
                  <a:extLst>
                    <a:ext uri="{9D8B030D-6E8A-4147-A177-3AD203B41FA5}">
                      <a16:colId xmlns:a16="http://schemas.microsoft.com/office/drawing/2014/main" val="3927212844"/>
                    </a:ext>
                  </a:extLst>
                </a:gridCol>
              </a:tblGrid>
              <a:tr h="3559753"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noProof="0" dirty="0">
                          <a:solidFill>
                            <a:schemeClr val="tx1"/>
                          </a:solidFill>
                          <a:latin typeface="Propin"/>
                          <a:ea typeface="+mn-ea"/>
                          <a:cs typeface="+mn-cs"/>
                        </a:rPr>
                        <a:t>Délai moyen de traitement par type de document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noProof="0" dirty="0">
                          <a:solidFill>
                            <a:schemeClr val="tx1"/>
                          </a:solidFill>
                          <a:latin typeface="Propin"/>
                          <a:ea typeface="+mn-ea"/>
                          <a:cs typeface="+mn-cs"/>
                        </a:rPr>
                        <a:t>Taux d'utilisation des capacités par centre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noProof="0" dirty="0">
                          <a:solidFill>
                            <a:schemeClr val="tx1"/>
                          </a:solidFill>
                          <a:latin typeface="Propin"/>
                          <a:ea typeface="+mn-ea"/>
                          <a:cs typeface="+mn-cs"/>
                        </a:rPr>
                        <a:t>Variation de la demande de service par région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noProof="0" dirty="0">
                          <a:solidFill>
                            <a:schemeClr val="tx1"/>
                          </a:solidFill>
                          <a:latin typeface="Propin"/>
                          <a:ea typeface="+mn-ea"/>
                          <a:cs typeface="+mn-cs"/>
                        </a:rPr>
                        <a:t>Taux moyen de rejet des demandes par centre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noProof="0" dirty="0">
                          <a:solidFill>
                            <a:schemeClr val="tx1"/>
                          </a:solidFill>
                          <a:latin typeface="Propin"/>
                          <a:ea typeface="+mn-ea"/>
                          <a:cs typeface="+mn-cs"/>
                        </a:rPr>
                        <a:t>Taux de croissance des demandes par Région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noProof="0" dirty="0">
                          <a:solidFill>
                            <a:schemeClr val="tx1"/>
                          </a:solidFill>
                          <a:latin typeface="Propin"/>
                          <a:ea typeface="+mn-ea"/>
                          <a:cs typeface="+mn-cs"/>
                        </a:rPr>
                        <a:t>Transformation numérique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140920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F7B42175-7408-68C8-4434-8B17CECCE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975094"/>
              </p:ext>
            </p:extLst>
          </p:nvPr>
        </p:nvGraphicFramePr>
        <p:xfrm>
          <a:off x="1931324" y="6093070"/>
          <a:ext cx="7772400" cy="64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85005285"/>
                    </a:ext>
                  </a:extLst>
                </a:gridCol>
              </a:tblGrid>
              <a:tr h="642111">
                <a:tc>
                  <a:txBody>
                    <a:bodyPr/>
                    <a:lstStyle/>
                    <a:p>
                      <a:pPr algn="ctr"/>
                      <a:r>
                        <a:rPr lang="fr-FR" sz="3600" noProof="0" dirty="0">
                          <a:solidFill>
                            <a:schemeClr val="tx1"/>
                          </a:solidFill>
                          <a:latin typeface="Propin"/>
                        </a:rPr>
                        <a:t>LES KPIs définis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005668"/>
                  </a:ext>
                </a:extLst>
              </a:tr>
            </a:tbl>
          </a:graphicData>
        </a:graphic>
      </p:graphicFrame>
      <p:pic>
        <p:nvPicPr>
          <p:cNvPr id="19" name="Image 18">
            <a:extLst>
              <a:ext uri="{FF2B5EF4-FFF2-40B4-BE49-F238E27FC236}">
                <a16:creationId xmlns:a16="http://schemas.microsoft.com/office/drawing/2014/main" id="{BE69B6CE-D5A5-A038-F607-19A06B43C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1" y="5448300"/>
            <a:ext cx="6629399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-2346523" y="-2454553"/>
            <a:ext cx="4693046" cy="469304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fr-FR" noProof="0" dirty="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652" y="103713"/>
            <a:ext cx="18166696" cy="17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151"/>
              </a:lnSpc>
              <a:spcBef>
                <a:spcPct val="0"/>
              </a:spcBef>
            </a:pPr>
            <a:r>
              <a:rPr lang="fr-FR" sz="5108" noProof="0" dirty="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Principaux constats, recommandations et perspectives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FA7A94-0017-B69E-4685-F05C6B3AD0DE}"/>
              </a:ext>
            </a:extLst>
          </p:cNvPr>
          <p:cNvGrpSpPr/>
          <p:nvPr/>
        </p:nvGrpSpPr>
        <p:grpSpPr>
          <a:xfrm>
            <a:off x="82818" y="1888625"/>
            <a:ext cx="14036966" cy="8088083"/>
            <a:chOff x="1426612" y="2147638"/>
            <a:chExt cx="12707151" cy="6081585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D69ECB-2D99-BB38-0B4F-136974DE23E5}"/>
                </a:ext>
              </a:extLst>
            </p:cNvPr>
            <p:cNvSpPr/>
            <p:nvPr/>
          </p:nvSpPr>
          <p:spPr>
            <a:xfrm>
              <a:off x="1426612" y="2147638"/>
              <a:ext cx="4564881" cy="2017735"/>
            </a:xfrm>
            <a:custGeom>
              <a:avLst/>
              <a:gdLst>
                <a:gd name="connsiteX0" fmla="*/ 0 w 5503329"/>
                <a:gd name="connsiteY0" fmla="*/ 0 h 1948374"/>
                <a:gd name="connsiteX1" fmla="*/ 4529142 w 5503329"/>
                <a:gd name="connsiteY1" fmla="*/ 0 h 1948374"/>
                <a:gd name="connsiteX2" fmla="*/ 5503329 w 5503329"/>
                <a:gd name="connsiteY2" fmla="*/ 974187 h 1948374"/>
                <a:gd name="connsiteX3" fmla="*/ 4529142 w 5503329"/>
                <a:gd name="connsiteY3" fmla="*/ 1948374 h 1948374"/>
                <a:gd name="connsiteX4" fmla="*/ 0 w 5503329"/>
                <a:gd name="connsiteY4" fmla="*/ 1948374 h 1948374"/>
                <a:gd name="connsiteX5" fmla="*/ 974187 w 5503329"/>
                <a:gd name="connsiteY5" fmla="*/ 974187 h 1948374"/>
                <a:gd name="connsiteX6" fmla="*/ 0 w 5503329"/>
                <a:gd name="connsiteY6" fmla="*/ 0 h 1948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03329" h="1948374">
                  <a:moveTo>
                    <a:pt x="0" y="0"/>
                  </a:moveTo>
                  <a:lnTo>
                    <a:pt x="4529142" y="0"/>
                  </a:lnTo>
                  <a:lnTo>
                    <a:pt x="5503329" y="974187"/>
                  </a:lnTo>
                  <a:lnTo>
                    <a:pt x="4529142" y="1948374"/>
                  </a:lnTo>
                  <a:lnTo>
                    <a:pt x="0" y="1948374"/>
                  </a:lnTo>
                  <a:lnTo>
                    <a:pt x="974187" y="97418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2203" tIns="42672" rIns="1016859" bIns="42672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3200" dirty="0"/>
                <a:t>Forte demande pour le livret de famille et le certificat de nationalité</a:t>
              </a:r>
              <a:endParaRPr lang="fr-FR" sz="3200" kern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97B4B5-B83E-0E3B-739C-DB39BB0EA5BA}"/>
                </a:ext>
              </a:extLst>
            </p:cNvPr>
            <p:cNvSpPr/>
            <p:nvPr/>
          </p:nvSpPr>
          <p:spPr>
            <a:xfrm>
              <a:off x="1426612" y="4799777"/>
              <a:ext cx="8086379" cy="3429446"/>
            </a:xfrm>
            <a:custGeom>
              <a:avLst/>
              <a:gdLst>
                <a:gd name="connsiteX0" fmla="*/ 0 w 4402663"/>
                <a:gd name="connsiteY0" fmla="*/ 0 h 4009482"/>
                <a:gd name="connsiteX1" fmla="*/ 4402663 w 4402663"/>
                <a:gd name="connsiteY1" fmla="*/ 0 h 4009482"/>
                <a:gd name="connsiteX2" fmla="*/ 4402663 w 4402663"/>
                <a:gd name="connsiteY2" fmla="*/ 4009482 h 4009482"/>
                <a:gd name="connsiteX3" fmla="*/ 0 w 4402663"/>
                <a:gd name="connsiteY3" fmla="*/ 4009482 h 4009482"/>
                <a:gd name="connsiteX4" fmla="*/ 0 w 4402663"/>
                <a:gd name="connsiteY4" fmla="*/ 0 h 4009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2663" h="4009482">
                  <a:moveTo>
                    <a:pt x="0" y="0"/>
                  </a:moveTo>
                  <a:lnTo>
                    <a:pt x="4402663" y="0"/>
                  </a:lnTo>
                  <a:lnTo>
                    <a:pt x="4402663" y="4009482"/>
                  </a:lnTo>
                  <a:lnTo>
                    <a:pt x="0" y="4009482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2060"/>
              </a:solidFill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228600" lvl="1" indent="-228600" defTabSz="1066800"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fr-FR" sz="3600" kern="1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28600" lvl="1" indent="-228600" defTabSz="1066800"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3600" kern="1200" noProof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Digitaliser davantage les demandes</a:t>
              </a:r>
            </a:p>
            <a:p>
              <a:pPr marL="228600" lvl="1" indent="-228600" defTabSz="1066800"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3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Améliorer la prévention des pertes de documents</a:t>
              </a:r>
            </a:p>
            <a:p>
              <a:pPr marL="228600" lvl="1" indent="-228600" defTabSz="1066800"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3600" kern="1200" noProof="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Augmenter le personnel en charge de la livraison de </a:t>
              </a:r>
              <a:r>
                <a:rPr lang="fr-FR" sz="36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livret de famille et de certificat de nationalité</a:t>
              </a:r>
              <a:endParaRPr lang="fr-FR" sz="3600" kern="1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81B679C-EC9F-768E-5530-7A2C39263E61}"/>
                </a:ext>
              </a:extLst>
            </p:cNvPr>
            <p:cNvSpPr/>
            <p:nvPr/>
          </p:nvSpPr>
          <p:spPr>
            <a:xfrm>
              <a:off x="5432806" y="2191073"/>
              <a:ext cx="4564881" cy="1989474"/>
            </a:xfrm>
            <a:custGeom>
              <a:avLst/>
              <a:gdLst>
                <a:gd name="connsiteX0" fmla="*/ 0 w 5503329"/>
                <a:gd name="connsiteY0" fmla="*/ 0 h 1948374"/>
                <a:gd name="connsiteX1" fmla="*/ 4529142 w 5503329"/>
                <a:gd name="connsiteY1" fmla="*/ 0 h 1948374"/>
                <a:gd name="connsiteX2" fmla="*/ 5503329 w 5503329"/>
                <a:gd name="connsiteY2" fmla="*/ 974187 h 1948374"/>
                <a:gd name="connsiteX3" fmla="*/ 4529142 w 5503329"/>
                <a:gd name="connsiteY3" fmla="*/ 1948374 h 1948374"/>
                <a:gd name="connsiteX4" fmla="*/ 0 w 5503329"/>
                <a:gd name="connsiteY4" fmla="*/ 1948374 h 1948374"/>
                <a:gd name="connsiteX5" fmla="*/ 974187 w 5503329"/>
                <a:gd name="connsiteY5" fmla="*/ 974187 h 1948374"/>
                <a:gd name="connsiteX6" fmla="*/ 0 w 5503329"/>
                <a:gd name="connsiteY6" fmla="*/ 0 h 1948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03329" h="1948374">
                  <a:moveTo>
                    <a:pt x="0" y="0"/>
                  </a:moveTo>
                  <a:lnTo>
                    <a:pt x="4529142" y="0"/>
                  </a:lnTo>
                  <a:lnTo>
                    <a:pt x="5503329" y="974187"/>
                  </a:lnTo>
                  <a:lnTo>
                    <a:pt x="4529142" y="1948374"/>
                  </a:lnTo>
                  <a:lnTo>
                    <a:pt x="0" y="1948374"/>
                  </a:lnTo>
                  <a:lnTo>
                    <a:pt x="974187" y="97418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2203" tIns="42672" rIns="1016859" bIns="42672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3200" dirty="0"/>
                <a:t>Les centres principaux (Sokodé, Kpalimé, Tsévié) concentrent le personnel</a:t>
              </a:r>
              <a:endParaRPr lang="fr-FR" sz="3200" kern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58D183B-9FE6-B021-BDE3-8E7319A173F4}"/>
                </a:ext>
              </a:extLst>
            </p:cNvPr>
            <p:cNvSpPr/>
            <p:nvPr/>
          </p:nvSpPr>
          <p:spPr>
            <a:xfrm>
              <a:off x="9438999" y="2229857"/>
              <a:ext cx="4694764" cy="2028868"/>
            </a:xfrm>
            <a:custGeom>
              <a:avLst/>
              <a:gdLst>
                <a:gd name="connsiteX0" fmla="*/ 0 w 5503329"/>
                <a:gd name="connsiteY0" fmla="*/ 0 h 1948374"/>
                <a:gd name="connsiteX1" fmla="*/ 4529142 w 5503329"/>
                <a:gd name="connsiteY1" fmla="*/ 0 h 1948374"/>
                <a:gd name="connsiteX2" fmla="*/ 5503329 w 5503329"/>
                <a:gd name="connsiteY2" fmla="*/ 974187 h 1948374"/>
                <a:gd name="connsiteX3" fmla="*/ 4529142 w 5503329"/>
                <a:gd name="connsiteY3" fmla="*/ 1948374 h 1948374"/>
                <a:gd name="connsiteX4" fmla="*/ 0 w 5503329"/>
                <a:gd name="connsiteY4" fmla="*/ 1948374 h 1948374"/>
                <a:gd name="connsiteX5" fmla="*/ 974187 w 5503329"/>
                <a:gd name="connsiteY5" fmla="*/ 974187 h 1948374"/>
                <a:gd name="connsiteX6" fmla="*/ 0 w 5503329"/>
                <a:gd name="connsiteY6" fmla="*/ 0 h 1948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03329" h="1948374">
                  <a:moveTo>
                    <a:pt x="0" y="0"/>
                  </a:moveTo>
                  <a:lnTo>
                    <a:pt x="4529142" y="0"/>
                  </a:lnTo>
                  <a:lnTo>
                    <a:pt x="5503329" y="974187"/>
                  </a:lnTo>
                  <a:lnTo>
                    <a:pt x="4529142" y="1948374"/>
                  </a:lnTo>
                  <a:lnTo>
                    <a:pt x="0" y="1948374"/>
                  </a:lnTo>
                  <a:lnTo>
                    <a:pt x="974187" y="97418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2203" tIns="42672" rIns="1016859" bIns="42672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3200" dirty="0"/>
                <a:t>Motifs dominants de demande de service : perte et détérioration de documents</a:t>
              </a:r>
              <a:endParaRPr lang="fr-FR" sz="3200" kern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4A8B047F-8775-D3EE-BA4B-80E9610F65FB}"/>
              </a:ext>
            </a:extLst>
          </p:cNvPr>
          <p:cNvSpPr/>
          <p:nvPr/>
        </p:nvSpPr>
        <p:spPr>
          <a:xfrm>
            <a:off x="13572787" y="1975449"/>
            <a:ext cx="4693046" cy="2560453"/>
          </a:xfrm>
          <a:custGeom>
            <a:avLst/>
            <a:gdLst>
              <a:gd name="connsiteX0" fmla="*/ 0 w 5503329"/>
              <a:gd name="connsiteY0" fmla="*/ 0 h 1948374"/>
              <a:gd name="connsiteX1" fmla="*/ 4529142 w 5503329"/>
              <a:gd name="connsiteY1" fmla="*/ 0 h 1948374"/>
              <a:gd name="connsiteX2" fmla="*/ 5503329 w 5503329"/>
              <a:gd name="connsiteY2" fmla="*/ 974187 h 1948374"/>
              <a:gd name="connsiteX3" fmla="*/ 4529142 w 5503329"/>
              <a:gd name="connsiteY3" fmla="*/ 1948374 h 1948374"/>
              <a:gd name="connsiteX4" fmla="*/ 0 w 5503329"/>
              <a:gd name="connsiteY4" fmla="*/ 1948374 h 1948374"/>
              <a:gd name="connsiteX5" fmla="*/ 974187 w 5503329"/>
              <a:gd name="connsiteY5" fmla="*/ 974187 h 1948374"/>
              <a:gd name="connsiteX6" fmla="*/ 0 w 5503329"/>
              <a:gd name="connsiteY6" fmla="*/ 0 h 1948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3329" h="1948374">
                <a:moveTo>
                  <a:pt x="0" y="0"/>
                </a:moveTo>
                <a:lnTo>
                  <a:pt x="4529142" y="0"/>
                </a:lnTo>
                <a:lnTo>
                  <a:pt x="5503329" y="974187"/>
                </a:lnTo>
                <a:lnTo>
                  <a:pt x="4529142" y="1948374"/>
                </a:lnTo>
                <a:lnTo>
                  <a:pt x="0" y="1948374"/>
                </a:lnTo>
                <a:lnTo>
                  <a:pt x="974187" y="97418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02203" tIns="42672" rIns="1016859" bIns="42672" numCol="1" spcCol="1270" anchor="ctr" anchorCtr="0">
            <a:noAutofit/>
          </a:bodyPr>
          <a:lstStyle/>
          <a:p>
            <a:pPr lvl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3200" dirty="0"/>
              <a:t>Taux de rejet des documents significatif </a:t>
            </a:r>
            <a:r>
              <a:rPr lang="en-US" sz="3200" dirty="0"/>
              <a:t>(au tour de 20 %)</a:t>
            </a:r>
            <a:r>
              <a:rPr lang="fr-FR" sz="3200" dirty="0"/>
              <a:t> </a:t>
            </a:r>
            <a:endParaRPr lang="fr-FR" sz="3200" kern="12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C9266A7A-2871-6C2C-39C8-7F64919F2E4B}"/>
              </a:ext>
            </a:extLst>
          </p:cNvPr>
          <p:cNvSpPr/>
          <p:nvPr/>
        </p:nvSpPr>
        <p:spPr>
          <a:xfrm>
            <a:off x="9272558" y="5415784"/>
            <a:ext cx="8932626" cy="4560923"/>
          </a:xfrm>
          <a:custGeom>
            <a:avLst/>
            <a:gdLst>
              <a:gd name="connsiteX0" fmla="*/ 0 w 4402663"/>
              <a:gd name="connsiteY0" fmla="*/ 0 h 4009482"/>
              <a:gd name="connsiteX1" fmla="*/ 4402663 w 4402663"/>
              <a:gd name="connsiteY1" fmla="*/ 0 h 4009482"/>
              <a:gd name="connsiteX2" fmla="*/ 4402663 w 4402663"/>
              <a:gd name="connsiteY2" fmla="*/ 4009482 h 4009482"/>
              <a:gd name="connsiteX3" fmla="*/ 0 w 4402663"/>
              <a:gd name="connsiteY3" fmla="*/ 4009482 h 4009482"/>
              <a:gd name="connsiteX4" fmla="*/ 0 w 4402663"/>
              <a:gd name="connsiteY4" fmla="*/ 0 h 400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663" h="4009482">
                <a:moveTo>
                  <a:pt x="0" y="0"/>
                </a:moveTo>
                <a:lnTo>
                  <a:pt x="4402663" y="0"/>
                </a:lnTo>
                <a:lnTo>
                  <a:pt x="4402663" y="4009482"/>
                </a:lnTo>
                <a:lnTo>
                  <a:pt x="0" y="4009482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002060"/>
            </a:solidFill>
          </a:ln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228600" lvl="1" indent="-228600" defTabSz="1066800">
              <a:spcBef>
                <a:spcPct val="0"/>
              </a:spcBef>
              <a:spcAft>
                <a:spcPct val="15000"/>
              </a:spcAft>
              <a:buChar char="•"/>
            </a:pPr>
            <a:endParaRPr lang="fr-FR" sz="3600" kern="1200" noProof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28600" lvl="1" indent="-228600" defTabSz="1066800"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3600" kern="1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Absence de feedback des usagers (mise en place des enquêtes de satisfaction)</a:t>
            </a:r>
          </a:p>
          <a:p>
            <a:pPr marL="228600" lvl="1" indent="-228600" defTabSz="1066800"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Extension du modèle  à d’autres services publics</a:t>
            </a:r>
            <a:endParaRPr lang="fr-FR" sz="3600" kern="1200" noProof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BFEA54A-AA90-3DBB-3636-E9168B3F2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778594"/>
              </p:ext>
            </p:extLst>
          </p:nvPr>
        </p:nvGraphicFramePr>
        <p:xfrm>
          <a:off x="2604118" y="5174974"/>
          <a:ext cx="402528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5282">
                  <a:extLst>
                    <a:ext uri="{9D8B030D-6E8A-4147-A177-3AD203B41FA5}">
                      <a16:colId xmlns:a16="http://schemas.microsoft.com/office/drawing/2014/main" val="1408732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Recommendations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83702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205CC57-231C-A2C1-3FE3-DA75A7947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418574"/>
              </p:ext>
            </p:extLst>
          </p:nvPr>
        </p:nvGraphicFramePr>
        <p:xfrm>
          <a:off x="11353800" y="4935965"/>
          <a:ext cx="402528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5282">
                  <a:extLst>
                    <a:ext uri="{9D8B030D-6E8A-4147-A177-3AD203B41FA5}">
                      <a16:colId xmlns:a16="http://schemas.microsoft.com/office/drawing/2014/main" val="1408732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Perspectives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837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63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33800" y="4274640"/>
            <a:ext cx="8819592" cy="1887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510"/>
              </a:lnSpc>
              <a:spcBef>
                <a:spcPct val="0"/>
              </a:spcBef>
            </a:pPr>
            <a:r>
              <a:rPr lang="fr-FR" sz="1490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MERCI!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98912" y="0"/>
            <a:ext cx="5889088" cy="756959"/>
            <a:chOff x="0" y="0"/>
            <a:chExt cx="1551036" cy="1993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fr-FR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98912" y="9530041"/>
            <a:ext cx="5889088" cy="756959"/>
            <a:chOff x="0" y="0"/>
            <a:chExt cx="1551036" cy="1993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fr-FR" noProof="0" dirty="0"/>
            </a:p>
          </p:txBody>
        </p:sp>
      </p:grpSp>
      <p:sp>
        <p:nvSpPr>
          <p:cNvPr id="21" name="Freeform 21"/>
          <p:cNvSpPr/>
          <p:nvPr/>
        </p:nvSpPr>
        <p:spPr>
          <a:xfrm>
            <a:off x="-4925441" y="3609788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Picture 4" descr="Carte du Togo - Plusieurs cartes du pays en Afrique">
            <a:extLst>
              <a:ext uri="{FF2B5EF4-FFF2-40B4-BE49-F238E27FC236}">
                <a16:creationId xmlns:a16="http://schemas.microsoft.com/office/drawing/2014/main" id="{317A18A2-6BB6-B70D-B0D3-D04B6AEF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912" y="731328"/>
            <a:ext cx="5889088" cy="879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399</Words>
  <Application>Microsoft Office PowerPoint</Application>
  <PresentationFormat>Personnalisé</PresentationFormat>
  <Paragraphs>56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7" baseType="lpstr">
      <vt:lpstr>Roboto</vt:lpstr>
      <vt:lpstr>Calibri</vt:lpstr>
      <vt:lpstr>Arial</vt:lpstr>
      <vt:lpstr>Poppins</vt:lpstr>
      <vt:lpstr>Open Sans Extra Bold</vt:lpstr>
      <vt:lpstr>Times New Roman</vt:lpstr>
      <vt:lpstr>BalooDa2</vt:lpstr>
      <vt:lpstr>Overused Grotesk</vt:lpstr>
      <vt:lpstr>Propin</vt:lpstr>
      <vt:lpstr>Cascadia Code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>Jephté Amini</dc:creator>
  <cp:lastModifiedBy>Lonzozou Katchoou</cp:lastModifiedBy>
  <cp:revision>12</cp:revision>
  <dcterms:created xsi:type="dcterms:W3CDTF">2006-08-16T00:00:00Z</dcterms:created>
  <dcterms:modified xsi:type="dcterms:W3CDTF">2026-01-20T12:27:25Z</dcterms:modified>
  <dc:identifier>DAGR14vyMUs</dc:identifier>
</cp:coreProperties>
</file>